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D1B4C"/>
          </a:solidFill>
          <a:ln w="12700">
            <a:solidFill>
              <a:srgbClr val="0D1B4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ader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2971800" cy="1024128"/>
          </a:xfrm>
          <a:prstGeom prst="rect">
            <a:avLst/>
          </a:prstGeom>
        </p:spPr>
      </p:pic>
      <p:pic>
        <p:nvPicPr>
          <p:cNvPr id="3" name="Image 1" descr="/mnt/data/header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73152"/>
            <a:ext cx="2670048" cy="1078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0" y="32918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220" kern="0" dirty="0">
                <a:solidFill>
                  <a:srgbClr val="F28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ANVAYA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4343400" y="905256"/>
            <a:ext cx="3520440" cy="0"/>
          </a:xfrm>
          <a:prstGeom prst="line">
            <a:avLst/>
          </a:prstGeom>
          <a:noFill/>
          <a:ln w="17780">
            <a:solidFill>
              <a:srgbClr val="F28A43">
                <a:alpha val="8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246120" y="1234440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28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BENEFITS</a:t>
            </a:r>
            <a:endParaRPr lang="en-US" sz="2450" dirty="0"/>
          </a:p>
        </p:txBody>
      </p:sp>
      <p:sp>
        <p:nvSpPr>
          <p:cNvPr id="7" name="Shape 3"/>
          <p:cNvSpPr/>
          <p:nvPr/>
        </p:nvSpPr>
        <p:spPr>
          <a:xfrm>
            <a:off x="658368" y="2176272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E3E7E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31520" y="2276856"/>
            <a:ext cx="100584" cy="640080"/>
          </a:xfrm>
          <a:prstGeom prst="roundRect">
            <a:avLst>
              <a:gd name="adj" fmla="val 36364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05256" y="2350008"/>
            <a:ext cx="384048" cy="384048"/>
          </a:xfrm>
          <a:prstGeom prst="ellipse">
            <a:avLst/>
          </a:prstGeom>
          <a:solidFill>
            <a:srgbClr val="FFF1E8"/>
          </a:solidFill>
          <a:ln w="15240">
            <a:solidFill>
              <a:srgbClr val="FF6A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05256" y="243687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70" dirty="0"/>
          </a:p>
        </p:txBody>
      </p:sp>
      <p:sp>
        <p:nvSpPr>
          <p:cNvPr id="11" name="Text 7"/>
          <p:cNvSpPr/>
          <p:nvPr/>
        </p:nvSpPr>
        <p:spPr>
          <a:xfrm>
            <a:off x="1408176" y="2322576"/>
            <a:ext cx="4379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repeat road digging → less disruption for citizens (traffic, dust, noise)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99632" y="2176272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E3E7E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72784" y="2276856"/>
            <a:ext cx="100584" cy="640080"/>
          </a:xfrm>
          <a:prstGeom prst="roundRect">
            <a:avLst>
              <a:gd name="adj" fmla="val 36364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46520" y="2350008"/>
            <a:ext cx="384048" cy="384048"/>
          </a:xfrm>
          <a:prstGeom prst="ellipse">
            <a:avLst/>
          </a:prstGeom>
          <a:solidFill>
            <a:srgbClr val="FFF1E8"/>
          </a:solidFill>
          <a:ln w="15240">
            <a:solidFill>
              <a:srgbClr val="FF6A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46520" y="243687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70" dirty="0"/>
          </a:p>
        </p:txBody>
      </p:sp>
      <p:sp>
        <p:nvSpPr>
          <p:cNvPr id="16" name="Text 12"/>
          <p:cNvSpPr/>
          <p:nvPr/>
        </p:nvSpPr>
        <p:spPr>
          <a:xfrm>
            <a:off x="6949440" y="2322576"/>
            <a:ext cx="4379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Saves public money on repeat excavation and restoration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58368" y="3255264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E3E7E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3355848"/>
            <a:ext cx="100584" cy="640080"/>
          </a:xfrm>
          <a:prstGeom prst="roundRect">
            <a:avLst>
              <a:gd name="adj" fmla="val 36364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05256" y="3429000"/>
            <a:ext cx="384048" cy="384048"/>
          </a:xfrm>
          <a:prstGeom prst="ellipse">
            <a:avLst/>
          </a:prstGeom>
          <a:solidFill>
            <a:srgbClr val="FFF1E8"/>
          </a:solidFill>
          <a:ln w="15240">
            <a:solidFill>
              <a:srgbClr val="FF6A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05256" y="351586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70" dirty="0"/>
          </a:p>
        </p:txBody>
      </p:sp>
      <p:sp>
        <p:nvSpPr>
          <p:cNvPr id="21" name="Text 17"/>
          <p:cNvSpPr/>
          <p:nvPr/>
        </p:nvSpPr>
        <p:spPr>
          <a:xfrm>
            <a:off x="1408176" y="3401568"/>
            <a:ext cx="4379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coordination between departments all work done together instead of separately-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199632" y="3255264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E3E7E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72784" y="3355848"/>
            <a:ext cx="100584" cy="640080"/>
          </a:xfrm>
          <a:prstGeom prst="roundRect">
            <a:avLst>
              <a:gd name="adj" fmla="val 36364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46520" y="3429000"/>
            <a:ext cx="384048" cy="384048"/>
          </a:xfrm>
          <a:prstGeom prst="ellipse">
            <a:avLst/>
          </a:prstGeom>
          <a:solidFill>
            <a:srgbClr val="FFF1E8"/>
          </a:solidFill>
          <a:ln w="15240">
            <a:solidFill>
              <a:srgbClr val="FF6A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46520" y="351586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70" dirty="0"/>
          </a:p>
        </p:txBody>
      </p:sp>
      <p:sp>
        <p:nvSpPr>
          <p:cNvPr id="26" name="Text 22"/>
          <p:cNvSpPr/>
          <p:nvPr/>
        </p:nvSpPr>
        <p:spPr>
          <a:xfrm>
            <a:off x="6949440" y="3401568"/>
            <a:ext cx="4379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Flood risk caught during planning, before it becomes a real problem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58368" y="4334256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E3E7E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731520" y="4434840"/>
            <a:ext cx="100584" cy="640080"/>
          </a:xfrm>
          <a:prstGeom prst="roundRect">
            <a:avLst>
              <a:gd name="adj" fmla="val 36364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05256" y="4507992"/>
            <a:ext cx="384048" cy="384048"/>
          </a:xfrm>
          <a:prstGeom prst="ellipse">
            <a:avLst/>
          </a:prstGeom>
          <a:solidFill>
            <a:srgbClr val="FFF1E8"/>
          </a:solidFill>
          <a:ln w="15240">
            <a:solidFill>
              <a:srgbClr val="FF6A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05256" y="459486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6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70" dirty="0"/>
          </a:p>
        </p:txBody>
      </p:sp>
      <p:sp>
        <p:nvSpPr>
          <p:cNvPr id="31" name="Text 27"/>
          <p:cNvSpPr/>
          <p:nvPr/>
        </p:nvSpPr>
        <p:spPr>
          <a:xfrm>
            <a:off x="1408176" y="4480560"/>
            <a:ext cx="4379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avoidable waterlogging and drainage disruption during construction-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199632" y="4334256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E3E7ED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272784" y="4434840"/>
            <a:ext cx="100584" cy="640080"/>
          </a:xfrm>
          <a:prstGeom prst="roundRect">
            <a:avLst>
              <a:gd name="adj" fmla="val 36364"/>
            </a:avLst>
          </a:prstGeom>
          <a:solidFill>
            <a:srgbClr val="0D1B4C"/>
          </a:solidFill>
          <a:ln w="12700">
            <a:solidFill>
              <a:srgbClr val="0D1B4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446520" y="4507992"/>
            <a:ext cx="384048" cy="384048"/>
          </a:xfrm>
          <a:prstGeom prst="ellipse">
            <a:avLst/>
          </a:prstGeom>
          <a:solidFill>
            <a:srgbClr val="0D1B4C"/>
          </a:solidFill>
          <a:ln w="15240">
            <a:solidFill>
              <a:srgbClr val="0D1B4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46520" y="459486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70" dirty="0"/>
          </a:p>
        </p:txBody>
      </p:sp>
      <p:sp>
        <p:nvSpPr>
          <p:cNvPr id="36" name="Text 32"/>
          <p:cNvSpPr/>
          <p:nvPr/>
        </p:nvSpPr>
        <p:spPr>
          <a:xfrm>
            <a:off x="6949440" y="4480560"/>
            <a:ext cx="4379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Gives engineers explainable, data-backed decisions instead of guesswork Supports SDG 9 (Industry, Innovation and Infrastructure), SDG 11 (Sustainable Cities and Communities) &amp; SDG 13 (Climate Action)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ANVAYA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ANVAYA – Impact and Benefits</dc:title>
  <dc:subject>ANVAYA – Impact and Benefits</dc:subject>
  <dc:creator>OpenAI</dc:creator>
  <cp:lastModifiedBy>OpenAI</cp:lastModifiedBy>
  <cp:revision>1</cp:revision>
  <dcterms:created xsi:type="dcterms:W3CDTF">2026-08-17T04:03:46Z</dcterms:created>
  <dcterms:modified xsi:type="dcterms:W3CDTF">2026-08-17T04:03:46Z</dcterms:modified>
</cp:coreProperties>
</file>